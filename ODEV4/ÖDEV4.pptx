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9" r:id="rId10"/>
    <p:sldId id="267" r:id="rId11"/>
    <p:sldId id="270" r:id="rId12"/>
    <p:sldId id="268" r:id="rId13"/>
    <p:sldId id="271" r:id="rId14"/>
    <p:sldId id="264" r:id="rId15"/>
    <p:sldId id="272" r:id="rId16"/>
    <p:sldId id="265" r:id="rId17"/>
    <p:sldId id="266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altLang="en-US" dirty="0"/>
              <a:t>VERİ ORGANİZASYONU</a:t>
            </a:r>
            <a:endParaRPr lang="tr-T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altLang="en-US"/>
              <a:t>ÖDEV 4</a:t>
            </a:r>
            <a:endParaRPr lang="tr-TR" altLang="en-US"/>
          </a:p>
          <a:p>
            <a:r>
              <a:rPr lang="tr-TR" altLang="en-US"/>
              <a:t>B&amp;B+ AĞAÇLARI </a:t>
            </a:r>
            <a:endParaRPr lang="tr-TR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128000" y="54400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/>
              <a:t>Emin SAĞLAM 02240224171</a:t>
            </a:r>
            <a:endParaRPr lang="tr-TR" altLang="en-US"/>
          </a:p>
          <a:p>
            <a:endParaRPr lang="tr-T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05" y="778510"/>
            <a:ext cx="10972800" cy="582613"/>
          </a:xfrm>
        </p:spPr>
        <p:txBody>
          <a:bodyPr/>
          <a:p>
            <a:r>
              <a:rPr lang="tr-TR" altLang="en-US"/>
              <a:t>B VE B+ AĞAÇLARI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595" y="1483360"/>
            <a:ext cx="10972800" cy="4953000"/>
          </a:xfrm>
        </p:spPr>
        <p:txBody>
          <a:bodyPr/>
          <a:p>
            <a:r>
              <a:rPr lang="en-US" altLang="en-US"/>
              <a:t>B ve B+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modern veri tabanlar</a:t>
            </a:r>
            <a:r>
              <a:rPr lang="" altLang="en-US"/>
              <a:t>ı</a:t>
            </a:r>
            <a:r>
              <a:rPr lang="en-US" altLang="en-US"/>
              <a:t>nda, dosya sistemlerinde ve büyük veri altyap</a:t>
            </a:r>
            <a:r>
              <a:rPr lang="" altLang="en-US"/>
              <a:t>ı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nda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arama, s</a:t>
            </a:r>
            <a:r>
              <a:rPr lang="" altLang="en-US"/>
              <a:t>ı</a:t>
            </a:r>
            <a:r>
              <a:rPr lang="en-US" altLang="en-US"/>
              <a:t>ralama ve veri eri</a:t>
            </a:r>
            <a:r>
              <a:rPr lang="" altLang="en-US"/>
              <a:t>ş</a:t>
            </a:r>
            <a:r>
              <a:rPr lang="en-US" altLang="en-US"/>
              <a:t>imi sa</a:t>
            </a:r>
            <a:r>
              <a:rPr lang="" altLang="en-US"/>
              <a:t>ğ</a:t>
            </a:r>
            <a:r>
              <a:rPr lang="en-US" altLang="en-US"/>
              <a:t>lad</a:t>
            </a:r>
            <a:r>
              <a:rPr lang="" altLang="en-US"/>
              <a:t>ı</a:t>
            </a:r>
            <a:r>
              <a:rPr lang="en-US" altLang="en-US"/>
              <a:t>klar</a:t>
            </a:r>
            <a:r>
              <a:rPr lang="" altLang="en-US"/>
              <a:t>ı</a:t>
            </a:r>
            <a:r>
              <a:rPr lang="en-US" altLang="en-US"/>
              <a:t> i</a:t>
            </a:r>
            <a:r>
              <a:rPr lang="" altLang="en-US"/>
              <a:t>ç</a:t>
            </a:r>
            <a:r>
              <a:rPr lang="en-US" altLang="en-US"/>
              <a:t>in kritik öneme sahiptir. MySQL, PostgreSQL ve MongoDB gibi sistemlerde indeksleme i</a:t>
            </a:r>
            <a:r>
              <a:rPr lang="" altLang="en-US"/>
              <a:t>ç</a:t>
            </a:r>
            <a:r>
              <a:rPr lang="en-US" altLang="en-US"/>
              <a:t>in tercih edilirler. Günlük hayatta ise kütüphane kataloglar</a:t>
            </a:r>
            <a:r>
              <a:rPr lang="" altLang="en-US"/>
              <a:t>ı</a:t>
            </a:r>
            <a:r>
              <a:rPr lang="en-US" altLang="en-US"/>
              <a:t> veya telefon rehberi gibi düzenli eri</a:t>
            </a:r>
            <a:r>
              <a:rPr lang="" altLang="en-US"/>
              <a:t>ş</a:t>
            </a:r>
            <a:r>
              <a:rPr lang="en-US" altLang="en-US"/>
              <a:t>im gerektiren sistemlere benzetilebilir.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8635"/>
            <a:ext cx="10972800" cy="582613"/>
          </a:xfrm>
        </p:spPr>
        <p:txBody>
          <a:bodyPr/>
          <a:p>
            <a:r>
              <a:rPr lang="tr-TR" altLang="en-US"/>
              <a:t>KULLANIM ALANLARI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31620"/>
            <a:ext cx="10972800" cy="4953000"/>
          </a:xfrm>
        </p:spPr>
        <p:txBody>
          <a:bodyPr>
            <a:normAutofit fontScale="90000" lnSpcReduction="20000"/>
          </a:bodyPr>
          <a:p>
            <a:r>
              <a:rPr lang="tr-TR" altLang="en-US"/>
              <a:t>1-</a:t>
            </a:r>
            <a:r>
              <a:rPr lang="en-US" altLang="en-US"/>
              <a:t>Veri Tabanlar</a:t>
            </a:r>
            <a:r>
              <a:rPr lang="" altLang="en-US"/>
              <a:t>ı</a:t>
            </a:r>
            <a:r>
              <a:rPr lang="en-US" altLang="en-US"/>
              <a:t>nda</a:t>
            </a:r>
            <a:endParaRPr lang="en-US" altLang="en-US"/>
          </a:p>
          <a:p>
            <a:r>
              <a:rPr lang="en-US" altLang="en-US"/>
              <a:t>MySQL: Varsay</a:t>
            </a:r>
            <a:r>
              <a:rPr lang="" altLang="en-US"/>
              <a:t>ı</a:t>
            </a:r>
            <a:r>
              <a:rPr lang="en-US" altLang="en-US"/>
              <a:t>lan olarak B+ Tree tabanl</a:t>
            </a:r>
            <a:r>
              <a:rPr lang="" altLang="en-US"/>
              <a:t>ı</a:t>
            </a:r>
            <a:r>
              <a:rPr lang="en-US" altLang="en-US"/>
              <a:t> indeksler kullan</a:t>
            </a:r>
            <a:r>
              <a:rPr lang="" altLang="en-US"/>
              <a:t>ı</a:t>
            </a:r>
            <a:r>
              <a:rPr lang="en-US" altLang="en-US"/>
              <a:t>r. Özellikle InnoDB motorunda, primary key ve secondary indexler B+ Tree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na dayan</a:t>
            </a:r>
            <a:r>
              <a:rPr lang="" altLang="en-US"/>
              <a:t>ı</a:t>
            </a:r>
            <a:r>
              <a:rPr lang="en-US" altLang="en-US"/>
              <a:t>r. Bu sayede 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 ve s</a:t>
            </a:r>
            <a:r>
              <a:rPr lang="" altLang="en-US"/>
              <a:t>ı</a:t>
            </a:r>
            <a:r>
              <a:rPr lang="en-US" altLang="en-US"/>
              <a:t>ral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 </a:t>
            </a:r>
            <a:r>
              <a:rPr lang="" altLang="en-US"/>
              <a:t>ç</a:t>
            </a:r>
            <a:r>
              <a:rPr lang="en-US" altLang="en-US"/>
              <a:t>ok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d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PostgreSQL: B-Tree indeksleri en yayg</a:t>
            </a:r>
            <a:r>
              <a:rPr lang="" altLang="en-US"/>
              <a:t>ı</a:t>
            </a:r>
            <a:r>
              <a:rPr lang="en-US" altLang="en-US"/>
              <a:t>n kullan</a:t>
            </a:r>
            <a:r>
              <a:rPr lang="" altLang="en-US"/>
              <a:t>ı</a:t>
            </a:r>
            <a:r>
              <a:rPr lang="en-US" altLang="en-US"/>
              <a:t>lan yöntemdir. S</a:t>
            </a:r>
            <a:r>
              <a:rPr lang="" altLang="en-US"/>
              <a:t>ı</a:t>
            </a:r>
            <a:r>
              <a:rPr lang="en-US" altLang="en-US"/>
              <a:t>ralama, e</a:t>
            </a:r>
            <a:r>
              <a:rPr lang="" altLang="en-US"/>
              <a:t>ş</a:t>
            </a:r>
            <a:r>
              <a:rPr lang="en-US" altLang="en-US"/>
              <a:t>itlik ve 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nda etkilidir. Büyük veri setlerinde performans</a:t>
            </a:r>
            <a:r>
              <a:rPr lang="" altLang="en-US"/>
              <a:t>ı</a:t>
            </a:r>
            <a:r>
              <a:rPr lang="en-US" altLang="en-US"/>
              <a:t> art</a:t>
            </a:r>
            <a:r>
              <a:rPr lang="" altLang="en-US"/>
              <a:t>ı</a:t>
            </a:r>
            <a:r>
              <a:rPr lang="en-US" altLang="en-US"/>
              <a:t>r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MongoDB: Doküman tabanl</a:t>
            </a:r>
            <a:r>
              <a:rPr lang="" altLang="en-US"/>
              <a:t>ı</a:t>
            </a:r>
            <a:r>
              <a:rPr lang="en-US" altLang="en-US"/>
              <a:t>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nda indeksleme i</a:t>
            </a:r>
            <a:r>
              <a:rPr lang="" altLang="en-US"/>
              <a:t>ç</a:t>
            </a:r>
            <a:r>
              <a:rPr lang="en-US" altLang="en-US"/>
              <a:t>in B-Tree türevlerini kullan</a:t>
            </a:r>
            <a:r>
              <a:rPr lang="" altLang="en-US"/>
              <a:t>ı</a:t>
            </a:r>
            <a:r>
              <a:rPr lang="en-US" altLang="en-US"/>
              <a:t>r. JSON belgelerinde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 sa</a:t>
            </a:r>
            <a:r>
              <a:rPr lang="" altLang="en-US"/>
              <a:t>ğ</a:t>
            </a:r>
            <a:r>
              <a:rPr lang="en-US" altLang="en-US"/>
              <a:t>lar.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91820"/>
            <a:ext cx="10972800" cy="582613"/>
          </a:xfrm>
        </p:spPr>
        <p:txBody>
          <a:bodyPr/>
          <a:p>
            <a:r>
              <a:rPr lang="tr-TR" altLang="en-US"/>
              <a:t>KULLANIM ALANLARI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5575"/>
            <a:ext cx="10972800" cy="4953000"/>
          </a:xfrm>
        </p:spPr>
        <p:txBody>
          <a:bodyPr/>
          <a:p>
            <a:r>
              <a:rPr lang="en-US" altLang="en-US"/>
              <a:t>2</a:t>
            </a:r>
            <a:r>
              <a:rPr lang="tr-TR" altLang="en-US"/>
              <a:t>-</a:t>
            </a:r>
            <a:r>
              <a:rPr lang="en-US" altLang="en-US"/>
              <a:t>Dosya Sistemlerinde</a:t>
            </a:r>
            <a:endParaRPr lang="en-US" altLang="en-US"/>
          </a:p>
          <a:p>
            <a:r>
              <a:rPr lang="en-US" altLang="en-US"/>
              <a:t>NTFS (Windows) ve HFS+ (MacOS) gibi dosya sistemlerinde dizin yap</a:t>
            </a:r>
            <a:r>
              <a:rPr lang="" altLang="en-US"/>
              <a:t>ı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n</a:t>
            </a:r>
            <a:r>
              <a:rPr lang="" altLang="en-US"/>
              <a:t>ı</a:t>
            </a:r>
            <a:r>
              <a:rPr lang="en-US" altLang="en-US"/>
              <a:t>n düzenlenmesi i</a:t>
            </a:r>
            <a:r>
              <a:rPr lang="" altLang="en-US"/>
              <a:t>ç</a:t>
            </a:r>
            <a:r>
              <a:rPr lang="en-US" altLang="en-US"/>
              <a:t>in B+ Tree kullan</a:t>
            </a:r>
            <a:r>
              <a:rPr lang="" altLang="en-US"/>
              <a:t>ı</a:t>
            </a:r>
            <a:r>
              <a:rPr lang="en-US" altLang="en-US"/>
              <a:t>l</a:t>
            </a:r>
            <a:r>
              <a:rPr lang="" altLang="en-US"/>
              <a:t>ı</a:t>
            </a:r>
            <a:r>
              <a:rPr lang="en-US" altLang="en-US"/>
              <a:t>r. Dosya adlar</a:t>
            </a:r>
            <a:r>
              <a:rPr lang="" altLang="en-US"/>
              <a:t>ı</a:t>
            </a:r>
            <a:r>
              <a:rPr lang="en-US" altLang="en-US"/>
              <a:t>n</a:t>
            </a:r>
            <a:r>
              <a:rPr lang="" altLang="en-US"/>
              <a:t>ı</a:t>
            </a:r>
            <a:r>
              <a:rPr lang="en-US" altLang="en-US"/>
              <a:t>n s</a:t>
            </a:r>
            <a:r>
              <a:rPr lang="" altLang="en-US"/>
              <a:t>ı</a:t>
            </a:r>
            <a:r>
              <a:rPr lang="en-US" altLang="en-US"/>
              <a:t>ral</a:t>
            </a:r>
            <a:r>
              <a:rPr lang="" altLang="en-US"/>
              <a:t>ı</a:t>
            </a:r>
            <a:r>
              <a:rPr lang="en-US" altLang="en-US"/>
              <a:t> tutulmas</a:t>
            </a:r>
            <a:r>
              <a:rPr lang="" altLang="en-US"/>
              <a:t>ı</a:t>
            </a:r>
            <a:r>
              <a:rPr lang="en-US" altLang="en-US"/>
              <a:t> ve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 sa</a:t>
            </a:r>
            <a:r>
              <a:rPr lang="" altLang="en-US"/>
              <a:t>ğ</a:t>
            </a:r>
            <a:r>
              <a:rPr lang="en-US" altLang="en-US"/>
              <a:t>lan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67055"/>
            <a:ext cx="10972800" cy="582613"/>
          </a:xfrm>
        </p:spPr>
        <p:txBody>
          <a:bodyPr/>
          <a:p>
            <a:r>
              <a:rPr lang="tr-TR" altLang="en-US"/>
              <a:t>KULLANIM ALANLARI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6555"/>
            <a:ext cx="10972800" cy="4953000"/>
          </a:xfrm>
        </p:spPr>
        <p:txBody>
          <a:bodyPr/>
          <a:p>
            <a:r>
              <a:rPr lang="en-US" altLang="en-US"/>
              <a:t>3</a:t>
            </a:r>
            <a:r>
              <a:rPr lang="tr-TR" altLang="en-US"/>
              <a:t>-</a:t>
            </a:r>
            <a:r>
              <a:rPr lang="en-US" altLang="en-US"/>
              <a:t>Arama Motorlar</a:t>
            </a:r>
            <a:r>
              <a:rPr lang="" altLang="en-US"/>
              <a:t>ı</a:t>
            </a:r>
            <a:r>
              <a:rPr lang="en-US" altLang="en-US"/>
              <a:t> ve Büyük Veri</a:t>
            </a:r>
            <a:endParaRPr lang="en-US" altLang="en-US"/>
          </a:p>
          <a:p>
            <a:r>
              <a:rPr lang="en-US" altLang="en-US"/>
              <a:t>Büyük veri sistemlerinde (ör. Hadoop, Spark) indeksleme ve veri eri</a:t>
            </a:r>
            <a:r>
              <a:rPr lang="" altLang="en-US"/>
              <a:t>ş</a:t>
            </a:r>
            <a:r>
              <a:rPr lang="en-US" altLang="en-US"/>
              <a:t>iminde B+ Tree yap</a:t>
            </a:r>
            <a:r>
              <a:rPr lang="" altLang="en-US"/>
              <a:t>ı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tercih edilir.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Arama motorlar</a:t>
            </a:r>
            <a:r>
              <a:rPr lang="" altLang="en-US"/>
              <a:t>ı</a:t>
            </a:r>
            <a:r>
              <a:rPr lang="en-US" altLang="en-US"/>
              <a:t>nda sorgular</a:t>
            </a:r>
            <a:r>
              <a:rPr lang="" altLang="en-US"/>
              <a:t>ı</a:t>
            </a:r>
            <a:r>
              <a:rPr lang="en-US" altLang="en-US"/>
              <a:t>n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</a:t>
            </a:r>
            <a:r>
              <a:rPr lang="" altLang="en-US"/>
              <a:t>ş</a:t>
            </a:r>
            <a:r>
              <a:rPr lang="en-US" altLang="en-US"/>
              <a:t>le</a:t>
            </a:r>
            <a:r>
              <a:rPr lang="" altLang="en-US"/>
              <a:t>ş</a:t>
            </a:r>
            <a:r>
              <a:rPr lang="en-US" altLang="en-US"/>
              <a:t>mesi i</a:t>
            </a:r>
            <a:r>
              <a:rPr lang="" altLang="en-US"/>
              <a:t>ç</a:t>
            </a:r>
            <a:r>
              <a:rPr lang="en-US" altLang="en-US"/>
              <a:t>in indeksleme mekanizmas</a:t>
            </a:r>
            <a:r>
              <a:rPr lang="" altLang="en-US"/>
              <a:t>ı</a:t>
            </a:r>
            <a:r>
              <a:rPr lang="en-US" altLang="en-US"/>
              <a:t> olarak kullan</a:t>
            </a:r>
            <a:r>
              <a:rPr lang="" altLang="en-US"/>
              <a:t>ı</a:t>
            </a:r>
            <a:r>
              <a:rPr lang="en-US" altLang="en-US"/>
              <a:t>l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7095"/>
            <a:ext cx="10972800" cy="582613"/>
          </a:xfrm>
        </p:spPr>
        <p:txBody>
          <a:bodyPr>
            <a:normAutofit/>
          </a:bodyPr>
          <a:p>
            <a:r>
              <a:rPr lang="en-US" altLang="en-US"/>
              <a:t> Neden Modern Sistemlerde Tercih Ediliyor?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0972800" cy="4953000"/>
          </a:xfrm>
        </p:spPr>
        <p:txBody>
          <a:bodyPr/>
          <a:p>
            <a:r>
              <a:rPr lang="en-US" altLang="en-US"/>
              <a:t>Disk dostu: B ve B+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disk sayfalar</a:t>
            </a:r>
            <a:r>
              <a:rPr lang="" altLang="en-US"/>
              <a:t>ı</a:t>
            </a:r>
            <a:r>
              <a:rPr lang="en-US" altLang="en-US"/>
              <a:t>yla uyumlu </a:t>
            </a:r>
            <a:r>
              <a:rPr lang="" altLang="en-US"/>
              <a:t>ç</a:t>
            </a:r>
            <a:r>
              <a:rPr lang="en-US" altLang="en-US"/>
              <a:t>al</a:t>
            </a:r>
            <a:r>
              <a:rPr lang="" altLang="en-US"/>
              <a:t>ışı</a:t>
            </a:r>
            <a:r>
              <a:rPr lang="en-US" altLang="en-US"/>
              <a:t>r, bu da büyük veri setlerinde performans</a:t>
            </a:r>
            <a:r>
              <a:rPr lang="" altLang="en-US"/>
              <a:t>ı</a:t>
            </a:r>
            <a:r>
              <a:rPr lang="en-US" altLang="en-US"/>
              <a:t> art</a:t>
            </a:r>
            <a:r>
              <a:rPr lang="" altLang="en-US"/>
              <a:t>ı</a:t>
            </a:r>
            <a:r>
              <a:rPr lang="en-US" altLang="en-US"/>
              <a:t>r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: B+ Tree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nda yaprak dü</a:t>
            </a:r>
            <a:r>
              <a:rPr lang="" altLang="en-US"/>
              <a:t>ğ</a:t>
            </a:r>
            <a:r>
              <a:rPr lang="en-US" altLang="en-US"/>
              <a:t>ümler birbirine ba</a:t>
            </a:r>
            <a:r>
              <a:rPr lang="" altLang="en-US"/>
              <a:t>ğ</a:t>
            </a:r>
            <a:r>
              <a:rPr lang="en-US" altLang="en-US"/>
              <a:t>l</a:t>
            </a:r>
            <a:r>
              <a:rPr lang="" altLang="en-US"/>
              <a:t>ı</a:t>
            </a:r>
            <a:r>
              <a:rPr lang="en-US" altLang="en-US"/>
              <a:t>d</a:t>
            </a:r>
            <a:r>
              <a:rPr lang="" altLang="en-US"/>
              <a:t>ı</a:t>
            </a:r>
            <a:r>
              <a:rPr lang="en-US" altLang="en-US"/>
              <a:t>r, bu da s</a:t>
            </a:r>
            <a:r>
              <a:rPr lang="" altLang="en-US"/>
              <a:t>ı</a:t>
            </a:r>
            <a:r>
              <a:rPr lang="en-US" altLang="en-US"/>
              <a:t>ral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imi kolayla</a:t>
            </a:r>
            <a:r>
              <a:rPr lang="" altLang="en-US"/>
              <a:t>ş</a:t>
            </a:r>
            <a:r>
              <a:rPr lang="en-US" altLang="en-US"/>
              <a:t>t</a:t>
            </a:r>
            <a:r>
              <a:rPr lang="" altLang="en-US"/>
              <a:t>ı</a:t>
            </a:r>
            <a:r>
              <a:rPr lang="en-US" altLang="en-US"/>
              <a:t>r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Verimlilik: Daha az disk eri</a:t>
            </a:r>
            <a:r>
              <a:rPr lang="" altLang="en-US"/>
              <a:t>ş</a:t>
            </a:r>
            <a:r>
              <a:rPr lang="en-US" altLang="en-US"/>
              <a:t>imi ile daha fazla veri i</a:t>
            </a:r>
            <a:r>
              <a:rPr lang="" altLang="en-US"/>
              <a:t>ş</a:t>
            </a:r>
            <a:r>
              <a:rPr lang="en-US" altLang="en-US"/>
              <a:t>lenir.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6895"/>
            <a:ext cx="10972800" cy="582613"/>
          </a:xfrm>
        </p:spPr>
        <p:txBody>
          <a:bodyPr/>
          <a:p>
            <a:r>
              <a:rPr lang="en-US" altLang="en-US"/>
              <a:t>MySQL ve B+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8930"/>
            <a:ext cx="10972800" cy="4953000"/>
          </a:xfrm>
        </p:spPr>
        <p:txBody>
          <a:bodyPr/>
          <a:p>
            <a:r>
              <a:rPr lang="en-US" altLang="en-US"/>
              <a:t>Kullan</a:t>
            </a:r>
            <a:r>
              <a:rPr lang="" altLang="en-US"/>
              <a:t>ı</a:t>
            </a:r>
            <a:r>
              <a:rPr lang="en-US" altLang="en-US"/>
              <a:t>m: MySQL’in en yayg</a:t>
            </a:r>
            <a:r>
              <a:rPr lang="" altLang="en-US"/>
              <a:t>ı</a:t>
            </a:r>
            <a:r>
              <a:rPr lang="en-US" altLang="en-US"/>
              <a:t>n kullan</a:t>
            </a:r>
            <a:r>
              <a:rPr lang="" altLang="en-US"/>
              <a:t>ı</a:t>
            </a:r>
            <a:r>
              <a:rPr lang="en-US" altLang="en-US"/>
              <a:t>lan depolama motoru olan InnoDB, indeksleme i</a:t>
            </a:r>
            <a:r>
              <a:rPr lang="" altLang="en-US"/>
              <a:t>ç</a:t>
            </a:r>
            <a:r>
              <a:rPr lang="en-US" altLang="en-US"/>
              <a:t>in B+ Tree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</a:t>
            </a:r>
            <a:r>
              <a:rPr lang="" altLang="en-US"/>
              <a:t>ı</a:t>
            </a:r>
            <a:r>
              <a:rPr lang="en-US" altLang="en-US"/>
              <a:t> kullan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Avantaj: 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nda (ör. WHERE age BETWEEN 20 AND 30) yaprak dü</a:t>
            </a:r>
            <a:r>
              <a:rPr lang="" altLang="en-US"/>
              <a:t>ğ</a:t>
            </a:r>
            <a:r>
              <a:rPr lang="en-US" altLang="en-US"/>
              <a:t>ümlerin birbirine ba</a:t>
            </a:r>
            <a:r>
              <a:rPr lang="" altLang="en-US"/>
              <a:t>ğ</a:t>
            </a:r>
            <a:r>
              <a:rPr lang="en-US" altLang="en-US"/>
              <a:t>l</a:t>
            </a:r>
            <a:r>
              <a:rPr lang="" altLang="en-US"/>
              <a:t>ı</a:t>
            </a:r>
            <a:r>
              <a:rPr lang="en-US" altLang="en-US"/>
              <a:t> olmas</a:t>
            </a:r>
            <a:r>
              <a:rPr lang="" altLang="en-US"/>
              <a:t>ı</a:t>
            </a:r>
            <a:r>
              <a:rPr lang="en-US" altLang="en-US"/>
              <a:t> sayesinde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 sa</a:t>
            </a:r>
            <a:r>
              <a:rPr lang="" altLang="en-US"/>
              <a:t>ğ</a:t>
            </a:r>
            <a:r>
              <a:rPr lang="en-US" altLang="en-US"/>
              <a:t>lar.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3380"/>
            <a:ext cx="10972800" cy="582613"/>
          </a:xfrm>
        </p:spPr>
        <p:txBody>
          <a:bodyPr/>
          <a:p>
            <a:r>
              <a:rPr lang="en-US" altLang="en-US">
                <a:sym typeface="+mn-ea"/>
              </a:rPr>
              <a:t>MySQL ve B+ Ağaçları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Örnek: Bir öğrenci tablosunda PRIMARY KEY (id) tanımlandığında, bu indeks B+ Tree yapısında tutulur. Böylece milyonlarca kayıt arasında bile hızlı erişim mümkündür.</a:t>
            </a:r>
            <a:endParaRPr lang="en-US" altLang="en-US"/>
          </a:p>
          <a:p>
            <a:endParaRPr lang="en-US"/>
          </a:p>
        </p:txBody>
      </p:sp>
      <p:pic>
        <p:nvPicPr>
          <p:cNvPr id="4" name="Picture 3" descr="Copilot_20260519_1527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805" y="2752090"/>
            <a:ext cx="5755640" cy="38379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0225"/>
            <a:ext cx="10972800" cy="582613"/>
          </a:xfrm>
        </p:spPr>
        <p:txBody>
          <a:bodyPr/>
          <a:p>
            <a:r>
              <a:rPr lang="en-US" altLang="en-US"/>
              <a:t>PostgreSQL ve B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62430"/>
            <a:ext cx="10972800" cy="4953000"/>
          </a:xfrm>
        </p:spPr>
        <p:txBody>
          <a:bodyPr/>
          <a:p>
            <a:r>
              <a:rPr lang="en-US" altLang="en-US"/>
              <a:t>Kullan</a:t>
            </a:r>
            <a:r>
              <a:rPr lang="" altLang="en-US"/>
              <a:t>ı</a:t>
            </a:r>
            <a:r>
              <a:rPr lang="en-US" altLang="en-US"/>
              <a:t>m: PostgreSQL’in varsay</a:t>
            </a:r>
            <a:r>
              <a:rPr lang="" altLang="en-US"/>
              <a:t>ı</a:t>
            </a:r>
            <a:r>
              <a:rPr lang="en-US" altLang="en-US"/>
              <a:t>lan indeks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 B-Tree’dir. Neredeyse tüm veri tipleri i</a:t>
            </a:r>
            <a:r>
              <a:rPr lang="" altLang="en-US"/>
              <a:t>ç</a:t>
            </a:r>
            <a:r>
              <a:rPr lang="en-US" altLang="en-US"/>
              <a:t>in s</a:t>
            </a:r>
            <a:r>
              <a:rPr lang="" altLang="en-US"/>
              <a:t>ı</a:t>
            </a:r>
            <a:r>
              <a:rPr lang="en-US" altLang="en-US"/>
              <a:t>ralama ve kar</a:t>
            </a:r>
            <a:r>
              <a:rPr lang="" altLang="en-US"/>
              <a:t>şı</a:t>
            </a:r>
            <a:r>
              <a:rPr lang="en-US" altLang="en-US"/>
              <a:t>la</a:t>
            </a:r>
            <a:r>
              <a:rPr lang="" altLang="en-US"/>
              <a:t>ş</a:t>
            </a:r>
            <a:r>
              <a:rPr lang="en-US" altLang="en-US"/>
              <a:t>t</a:t>
            </a:r>
            <a:r>
              <a:rPr lang="" altLang="en-US"/>
              <a:t>ı</a:t>
            </a:r>
            <a:r>
              <a:rPr lang="en-US" altLang="en-US"/>
              <a:t>rma i</a:t>
            </a:r>
            <a:r>
              <a:rPr lang="" altLang="en-US"/>
              <a:t>ş</a:t>
            </a:r>
            <a:r>
              <a:rPr lang="en-US" altLang="en-US"/>
              <a:t>lemlerinde kullan</a:t>
            </a:r>
            <a:r>
              <a:rPr lang="" altLang="en-US"/>
              <a:t>ı</a:t>
            </a:r>
            <a:r>
              <a:rPr lang="en-US" altLang="en-US"/>
              <a:t>l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Avantaj: E</a:t>
            </a:r>
            <a:r>
              <a:rPr lang="" altLang="en-US"/>
              <a:t>ş</a:t>
            </a:r>
            <a:r>
              <a:rPr lang="en-US" altLang="en-US"/>
              <a:t>itlik (=), kar</a:t>
            </a:r>
            <a:r>
              <a:rPr lang="" altLang="en-US"/>
              <a:t>şı</a:t>
            </a:r>
            <a:r>
              <a:rPr lang="en-US" altLang="en-US"/>
              <a:t>la</a:t>
            </a:r>
            <a:r>
              <a:rPr lang="" altLang="en-US"/>
              <a:t>ş</a:t>
            </a:r>
            <a:r>
              <a:rPr lang="en-US" altLang="en-US"/>
              <a:t>t</a:t>
            </a:r>
            <a:r>
              <a:rPr lang="" altLang="en-US"/>
              <a:t>ı</a:t>
            </a:r>
            <a:r>
              <a:rPr lang="en-US" altLang="en-US"/>
              <a:t>rma (&lt;, &gt;) ve 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nda yüksek performans sa</a:t>
            </a:r>
            <a:r>
              <a:rPr lang="" altLang="en-US"/>
              <a:t>ğ</a:t>
            </a:r>
            <a:r>
              <a:rPr lang="en-US" altLang="en-US"/>
              <a:t>lar.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61975"/>
            <a:ext cx="10972800" cy="582613"/>
          </a:xfrm>
        </p:spPr>
        <p:txBody>
          <a:bodyPr/>
          <a:p>
            <a:r>
              <a:rPr lang="en-US" altLang="en-US">
                <a:sym typeface="+mn-ea"/>
              </a:rPr>
              <a:t>PostgreSQL ve B Ağaçları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1590"/>
            <a:ext cx="10972800" cy="4953000"/>
          </a:xfrm>
        </p:spPr>
        <p:txBody>
          <a:bodyPr/>
          <a:p>
            <a:r>
              <a:rPr lang="en-US" altLang="en-US">
                <a:sym typeface="+mn-ea"/>
              </a:rPr>
              <a:t>Örnek: Bir müşteri tablosunda INDEX (lastname) tanımlandığında, soyadına göre hızlı arama yapılır. Bu indeks B-Tree yapısında tutulur.</a:t>
            </a:r>
            <a:endParaRPr lang="en-US" altLang="en-US"/>
          </a:p>
          <a:p>
            <a:endParaRPr lang="en-US"/>
          </a:p>
        </p:txBody>
      </p:sp>
      <p:pic>
        <p:nvPicPr>
          <p:cNvPr id="5" name="Picture 4" descr="Copilot_20260519_1538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6535" y="2847340"/>
            <a:ext cx="6551930" cy="4367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9430"/>
            <a:ext cx="10972800" cy="582613"/>
          </a:xfrm>
        </p:spPr>
        <p:txBody>
          <a:bodyPr/>
          <a:p>
            <a:r>
              <a:rPr lang="en-US" altLang="en-US"/>
              <a:t>MongoDB ve B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94815"/>
            <a:ext cx="10972800" cy="4953000"/>
          </a:xfrm>
        </p:spPr>
        <p:txBody>
          <a:bodyPr>
            <a:normAutofit lnSpcReduction="10000"/>
          </a:bodyPr>
          <a:p>
            <a:r>
              <a:rPr lang="en-US" altLang="en-US"/>
              <a:t>Kullan</a:t>
            </a:r>
            <a:r>
              <a:rPr lang="" altLang="en-US"/>
              <a:t>ı</a:t>
            </a:r>
            <a:r>
              <a:rPr lang="en-US" altLang="en-US"/>
              <a:t>m: MongoDB’de tüm indeksler B-Tree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na dayan</a:t>
            </a:r>
            <a:r>
              <a:rPr lang="" altLang="en-US"/>
              <a:t>ı</a:t>
            </a:r>
            <a:r>
              <a:rPr lang="en-US" altLang="en-US"/>
              <a:t>r. Varsay</a:t>
            </a:r>
            <a:r>
              <a:rPr lang="" altLang="en-US"/>
              <a:t>ı</a:t>
            </a:r>
            <a:r>
              <a:rPr lang="en-US" altLang="en-US"/>
              <a:t>lan olarak _id alan</a:t>
            </a:r>
            <a:r>
              <a:rPr lang="" altLang="en-US"/>
              <a:t>ı</a:t>
            </a:r>
            <a:r>
              <a:rPr lang="en-US" altLang="en-US"/>
              <a:t>nda benzersiz bir B-Tree indeksi olu</a:t>
            </a:r>
            <a:r>
              <a:rPr lang="" altLang="en-US"/>
              <a:t>ş</a:t>
            </a:r>
            <a:r>
              <a:rPr lang="en-US" altLang="en-US"/>
              <a:t>turulur.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Avantaj: JSON belgelerinde e</a:t>
            </a:r>
            <a:r>
              <a:rPr lang="" altLang="en-US"/>
              <a:t>ş</a:t>
            </a:r>
            <a:r>
              <a:rPr lang="en-US" altLang="en-US"/>
              <a:t>itlik ve aral</a:t>
            </a:r>
            <a:r>
              <a:rPr lang="" altLang="en-US"/>
              <a:t>ı</a:t>
            </a:r>
            <a:r>
              <a:rPr lang="en-US" altLang="en-US"/>
              <a:t>k sorgular</a:t>
            </a:r>
            <a:r>
              <a:rPr lang="" altLang="en-US"/>
              <a:t>ı</a:t>
            </a:r>
            <a:r>
              <a:rPr lang="en-US" altLang="en-US"/>
              <a:t>n</a:t>
            </a:r>
            <a:r>
              <a:rPr lang="" altLang="en-US"/>
              <a:t>ı</a:t>
            </a:r>
            <a:r>
              <a:rPr lang="en-US" altLang="en-US"/>
              <a:t> h</a:t>
            </a:r>
            <a:r>
              <a:rPr lang="" altLang="en-US"/>
              <a:t>ı</a:t>
            </a:r>
            <a:r>
              <a:rPr lang="en-US" altLang="en-US"/>
              <a:t>zland</a:t>
            </a:r>
            <a:r>
              <a:rPr lang="" altLang="en-US"/>
              <a:t>ı</a:t>
            </a:r>
            <a:r>
              <a:rPr lang="en-US" altLang="en-US"/>
              <a:t>r</a:t>
            </a:r>
            <a:r>
              <a:rPr lang="" altLang="en-US"/>
              <a:t>ı</a:t>
            </a:r>
            <a:r>
              <a:rPr lang="en-US" altLang="en-US"/>
              <a:t>r. Ayr</a:t>
            </a:r>
            <a:r>
              <a:rPr lang="" altLang="en-US"/>
              <a:t>ı</a:t>
            </a:r>
            <a:r>
              <a:rPr lang="en-US" altLang="en-US"/>
              <a:t>ca s</a:t>
            </a:r>
            <a:r>
              <a:rPr lang="" altLang="en-US"/>
              <a:t>ı</a:t>
            </a:r>
            <a:r>
              <a:rPr lang="en-US" altLang="en-US"/>
              <a:t>ral</a:t>
            </a:r>
            <a:r>
              <a:rPr lang="" altLang="en-US"/>
              <a:t>ı</a:t>
            </a:r>
            <a:r>
              <a:rPr lang="en-US" altLang="en-US"/>
              <a:t> sonu</a:t>
            </a:r>
            <a:r>
              <a:rPr lang="" altLang="en-US"/>
              <a:t>ç</a:t>
            </a:r>
            <a:r>
              <a:rPr lang="en-US" altLang="en-US"/>
              <a:t> döndürmek i</a:t>
            </a:r>
            <a:r>
              <a:rPr lang="" altLang="en-US"/>
              <a:t>ç</a:t>
            </a:r>
            <a:r>
              <a:rPr lang="en-US" altLang="en-US"/>
              <a:t>in indeksin düzenli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ndan faydalan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4820"/>
            <a:ext cx="10972800" cy="582613"/>
          </a:xfrm>
        </p:spPr>
        <p:txBody>
          <a:bodyPr/>
          <a:p>
            <a:r>
              <a:rPr lang="en-US" altLang="en-US">
                <a:sym typeface="+mn-ea"/>
              </a:rPr>
              <a:t>MongoDB ve B Ağaçları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Örnek: Bir e-ticaret uygulamasında ürünleri price alanına göre sorgulamak için db.products.createIndex({ price: 1 }) komutu kullanılır. Bu indeks B-Tree yapısında tutulur.</a:t>
            </a:r>
            <a:endParaRPr lang="en-US" altLang="en-US"/>
          </a:p>
          <a:p>
            <a:endParaRPr lang="en-US"/>
          </a:p>
        </p:txBody>
      </p:sp>
      <p:pic>
        <p:nvPicPr>
          <p:cNvPr id="5" name="Picture 4" descr="Copilot_20260519_153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265" y="2969260"/>
            <a:ext cx="6152515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3385"/>
            <a:ext cx="10972800" cy="582613"/>
          </a:xfrm>
        </p:spPr>
        <p:txBody>
          <a:bodyPr/>
          <a:p>
            <a:r>
              <a:rPr lang="en-US" altLang="en-US"/>
              <a:t>Günlük Hayattan Benzetmeler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05" y="1641475"/>
            <a:ext cx="10972800" cy="4953000"/>
          </a:xfrm>
        </p:spPr>
        <p:txBody>
          <a:bodyPr/>
          <a:p>
            <a:r>
              <a:rPr lang="en-US" altLang="en-US" sz="2800"/>
              <a:t>Kütüphane sistemi: Kitaplar alfabetik veya konuya göre raflarda düzenlenir. B+ Tree yap</a:t>
            </a:r>
            <a:r>
              <a:rPr lang="" altLang="en-US" sz="2800"/>
              <a:t>ı</a:t>
            </a:r>
            <a:r>
              <a:rPr lang="en-US" altLang="en-US" sz="2800"/>
              <a:t>s</a:t>
            </a:r>
            <a:r>
              <a:rPr lang="" altLang="en-US" sz="2800"/>
              <a:t>ı</a:t>
            </a:r>
            <a:r>
              <a:rPr lang="en-US" altLang="en-US" sz="2800"/>
              <a:t>, kitaplar</a:t>
            </a:r>
            <a:r>
              <a:rPr lang="" altLang="en-US" sz="2800"/>
              <a:t>ı</a:t>
            </a:r>
            <a:r>
              <a:rPr lang="en-US" altLang="en-US" sz="2800"/>
              <a:t>n s</a:t>
            </a:r>
            <a:r>
              <a:rPr lang="" altLang="en-US" sz="2800"/>
              <a:t>ı</a:t>
            </a:r>
            <a:r>
              <a:rPr lang="en-US" altLang="en-US" sz="2800"/>
              <a:t>ral</a:t>
            </a:r>
            <a:r>
              <a:rPr lang="" altLang="en-US" sz="2800"/>
              <a:t>ı</a:t>
            </a:r>
            <a:r>
              <a:rPr lang="en-US" altLang="en-US" sz="2800"/>
              <a:t> tutulmas</a:t>
            </a:r>
            <a:r>
              <a:rPr lang="" altLang="en-US" sz="2800"/>
              <a:t>ı</a:t>
            </a:r>
            <a:r>
              <a:rPr lang="en-US" altLang="en-US" sz="2800"/>
              <a:t>n</a:t>
            </a:r>
            <a:r>
              <a:rPr lang="" altLang="en-US" sz="2800"/>
              <a:t>ı</a:t>
            </a:r>
            <a:r>
              <a:rPr lang="en-US" altLang="en-US" sz="2800"/>
              <a:t> ve h</a:t>
            </a:r>
            <a:r>
              <a:rPr lang="" altLang="en-US" sz="2800"/>
              <a:t>ı</a:t>
            </a:r>
            <a:r>
              <a:rPr lang="en-US" altLang="en-US" sz="2800"/>
              <a:t>zl</a:t>
            </a:r>
            <a:r>
              <a:rPr lang="" altLang="en-US" sz="2800"/>
              <a:t>ı</a:t>
            </a:r>
            <a:r>
              <a:rPr lang="en-US" altLang="en-US" sz="2800"/>
              <a:t> bulunmas</a:t>
            </a:r>
            <a:r>
              <a:rPr lang="" altLang="en-US" sz="2800"/>
              <a:t>ı</a:t>
            </a:r>
            <a:r>
              <a:rPr lang="en-US" altLang="en-US" sz="2800"/>
              <a:t>n</a:t>
            </a:r>
            <a:r>
              <a:rPr lang="" altLang="en-US" sz="2800"/>
              <a:t>ı</a:t>
            </a:r>
            <a:r>
              <a:rPr lang="en-US" altLang="en-US" sz="2800"/>
              <a:t> sa</a:t>
            </a:r>
            <a:r>
              <a:rPr lang="" altLang="en-US" sz="2800"/>
              <a:t>ğ</a:t>
            </a:r>
            <a:r>
              <a:rPr lang="en-US" altLang="en-US" sz="2800"/>
              <a:t>lar.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Telefon rehberi: </a:t>
            </a:r>
            <a:r>
              <a:rPr lang="" altLang="en-US" sz="2800"/>
              <a:t>İ</a:t>
            </a:r>
            <a:r>
              <a:rPr lang="en-US" altLang="en-US" sz="2800"/>
              <a:t>simler alfabetik s</a:t>
            </a:r>
            <a:r>
              <a:rPr lang="" altLang="en-US" sz="2800"/>
              <a:t>ı</a:t>
            </a:r>
            <a:r>
              <a:rPr lang="en-US" altLang="en-US" sz="2800"/>
              <a:t>rada tutulur. “A” harfiyle ba</a:t>
            </a:r>
            <a:r>
              <a:rPr lang="" altLang="en-US" sz="2800"/>
              <a:t>ş</a:t>
            </a:r>
            <a:r>
              <a:rPr lang="en-US" altLang="en-US" sz="2800"/>
              <a:t>layan ki</a:t>
            </a:r>
            <a:r>
              <a:rPr lang="" altLang="en-US" sz="2800"/>
              <a:t>ş</a:t>
            </a:r>
            <a:r>
              <a:rPr lang="en-US" altLang="en-US" sz="2800"/>
              <a:t>ilere ula</a:t>
            </a:r>
            <a:r>
              <a:rPr lang="" altLang="en-US" sz="2800"/>
              <a:t>ş</a:t>
            </a:r>
            <a:r>
              <a:rPr lang="en-US" altLang="en-US" sz="2800"/>
              <a:t>mak i</a:t>
            </a:r>
            <a:r>
              <a:rPr lang="" altLang="en-US" sz="2800"/>
              <a:t>ç</a:t>
            </a:r>
            <a:r>
              <a:rPr lang="en-US" altLang="en-US" sz="2800"/>
              <a:t>in do</a:t>
            </a:r>
            <a:r>
              <a:rPr lang="" altLang="en-US" sz="2800"/>
              <a:t>ğ</a:t>
            </a:r>
            <a:r>
              <a:rPr lang="en-US" altLang="en-US" sz="2800"/>
              <a:t>rudan ilgili bölüme gidilir.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Dosya dolaplar</a:t>
            </a:r>
            <a:r>
              <a:rPr lang="" altLang="en-US" sz="2800"/>
              <a:t>ı</a:t>
            </a:r>
            <a:r>
              <a:rPr lang="en-US" altLang="en-US" sz="2800"/>
              <a:t>: Belgeler numaraland</a:t>
            </a:r>
            <a:r>
              <a:rPr lang="" altLang="en-US" sz="2800"/>
              <a:t>ı</a:t>
            </a:r>
            <a:r>
              <a:rPr lang="en-US" altLang="en-US" sz="2800"/>
              <a:t>r</a:t>
            </a:r>
            <a:r>
              <a:rPr lang="" altLang="en-US" sz="2800"/>
              <a:t>ı</a:t>
            </a:r>
            <a:r>
              <a:rPr lang="en-US" altLang="en-US" sz="2800"/>
              <a:t>lm</a:t>
            </a:r>
            <a:r>
              <a:rPr lang="" altLang="en-US" sz="2800"/>
              <a:t>ış</a:t>
            </a:r>
            <a:r>
              <a:rPr lang="en-US" altLang="en-US" sz="2800"/>
              <a:t> klasörlerde saklan</a:t>
            </a:r>
            <a:r>
              <a:rPr lang="" altLang="en-US" sz="2800"/>
              <a:t>ı</a:t>
            </a:r>
            <a:r>
              <a:rPr lang="en-US" altLang="en-US" sz="2800"/>
              <a:t>r. Arad</a:t>
            </a:r>
            <a:r>
              <a:rPr lang="" altLang="en-US" sz="2800"/>
              <a:t>ığı</a:t>
            </a:r>
            <a:r>
              <a:rPr lang="en-US" altLang="en-US" sz="2800"/>
              <a:t>n</a:t>
            </a:r>
            <a:r>
              <a:rPr lang="" altLang="en-US" sz="2800"/>
              <a:t>ı</a:t>
            </a:r>
            <a:r>
              <a:rPr lang="en-US" altLang="en-US" sz="2800"/>
              <a:t>z belgeyi bulmak i</a:t>
            </a:r>
            <a:r>
              <a:rPr lang="" altLang="en-US" sz="2800"/>
              <a:t>ç</a:t>
            </a:r>
            <a:r>
              <a:rPr lang="en-US" altLang="en-US" sz="2800"/>
              <a:t>in s</a:t>
            </a:r>
            <a:r>
              <a:rPr lang="" altLang="en-US" sz="2800"/>
              <a:t>ı</a:t>
            </a:r>
            <a:r>
              <a:rPr lang="en-US" altLang="en-US" sz="2800"/>
              <a:t>ral</a:t>
            </a:r>
            <a:r>
              <a:rPr lang="" altLang="en-US" sz="2800"/>
              <a:t>ı</a:t>
            </a:r>
            <a:r>
              <a:rPr lang="en-US" altLang="en-US" sz="2800"/>
              <a:t> eri</a:t>
            </a:r>
            <a:r>
              <a:rPr lang="" altLang="en-US" sz="2800"/>
              <a:t>ş</a:t>
            </a:r>
            <a:r>
              <a:rPr lang="en-US" altLang="en-US" sz="2800"/>
              <a:t>im yap</a:t>
            </a:r>
            <a:r>
              <a:rPr lang="" altLang="en-US" sz="2800"/>
              <a:t>ı</a:t>
            </a:r>
            <a:r>
              <a:rPr lang="en-US" altLang="en-US" sz="2800"/>
              <a:t>l</a:t>
            </a:r>
            <a:r>
              <a:rPr lang="" altLang="en-US" sz="2800"/>
              <a:t>ı</a:t>
            </a:r>
            <a:r>
              <a:rPr lang="en-US" altLang="en-US" sz="2800"/>
              <a:t>r.</a:t>
            </a:r>
            <a:endParaRPr lang="en-US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93725"/>
            <a:ext cx="10972800" cy="582613"/>
          </a:xfrm>
        </p:spPr>
        <p:txBody>
          <a:bodyPr/>
          <a:p>
            <a:r>
              <a:rPr lang="en-US" altLang="en-US">
                <a:sym typeface="+mn-ea"/>
              </a:rPr>
              <a:t>Günlük Hayattan Benzetmeler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645" y="1546225"/>
            <a:ext cx="10972800" cy="4953000"/>
          </a:xfrm>
        </p:spPr>
        <p:txBody>
          <a:bodyPr>
            <a:normAutofit lnSpcReduction="20000"/>
          </a:bodyPr>
          <a:p>
            <a:r>
              <a:rPr lang="en-US" altLang="en-US" sz="2500"/>
              <a:t>Havaalan</a:t>
            </a:r>
            <a:r>
              <a:rPr lang="" altLang="en-US" sz="2500"/>
              <a:t>ı</a:t>
            </a:r>
            <a:r>
              <a:rPr lang="en-US" altLang="en-US" sz="2500"/>
              <a:t> Bagaj Takip Sistemi</a:t>
            </a:r>
            <a:r>
              <a:rPr lang="tr-TR" altLang="en-US" sz="2500"/>
              <a:t>: </a:t>
            </a:r>
            <a:r>
              <a:rPr lang="en-US" altLang="en-US" sz="2500"/>
              <a:t>Her yolcunun bagaj</a:t>
            </a:r>
            <a:r>
              <a:rPr lang="" altLang="en-US" sz="2500"/>
              <a:t>ı</a:t>
            </a:r>
            <a:r>
              <a:rPr lang="en-US" altLang="en-US" sz="2500"/>
              <a:t>,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 numaras</a:t>
            </a:r>
            <a:r>
              <a:rPr lang="" altLang="en-US" sz="2500"/>
              <a:t>ı</a:t>
            </a:r>
            <a:r>
              <a:rPr lang="en-US" altLang="en-US" sz="2500"/>
              <a:t>, var</a:t>
            </a:r>
            <a:r>
              <a:rPr lang="" altLang="en-US" sz="2500"/>
              <a:t>ış</a:t>
            </a:r>
            <a:r>
              <a:rPr lang="en-US" altLang="en-US" sz="2500"/>
              <a:t> noktas</a:t>
            </a:r>
            <a:r>
              <a:rPr lang="" altLang="en-US" sz="2500"/>
              <a:t>ı</a:t>
            </a:r>
            <a:r>
              <a:rPr lang="en-US" altLang="en-US" sz="2500"/>
              <a:t> ve zaman bilgisine göre sisteme kaydediliyor.</a:t>
            </a:r>
            <a:r>
              <a:rPr lang="tr-TR" altLang="en-US" sz="2500"/>
              <a:t> </a:t>
            </a:r>
            <a:r>
              <a:rPr lang="en-US" altLang="en-US" sz="2500"/>
              <a:t>Yüzlerce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 ve binlerce bagaj aras</a:t>
            </a:r>
            <a:r>
              <a:rPr lang="" altLang="en-US" sz="2500"/>
              <a:t>ı</a:t>
            </a:r>
            <a:r>
              <a:rPr lang="en-US" altLang="en-US" sz="2500"/>
              <a:t>nda do</a:t>
            </a:r>
            <a:r>
              <a:rPr lang="" altLang="en-US" sz="2500"/>
              <a:t>ğ</a:t>
            </a:r>
            <a:r>
              <a:rPr lang="en-US" altLang="en-US" sz="2500"/>
              <a:t>ru bagaj</a:t>
            </a:r>
            <a:r>
              <a:rPr lang="" altLang="en-US" sz="2500"/>
              <a:t>ı</a:t>
            </a:r>
            <a:r>
              <a:rPr lang="en-US" altLang="en-US" sz="2500"/>
              <a:t> bulmak h</a:t>
            </a:r>
            <a:r>
              <a:rPr lang="" altLang="en-US" sz="2500"/>
              <a:t>ı</a:t>
            </a:r>
            <a:r>
              <a:rPr lang="en-US" altLang="en-US" sz="2500"/>
              <a:t>zl</a:t>
            </a:r>
            <a:r>
              <a:rPr lang="" altLang="en-US" sz="2500"/>
              <a:t>ı</a:t>
            </a:r>
            <a:r>
              <a:rPr lang="en-US" altLang="en-US" sz="2500"/>
              <a:t> olmal</a:t>
            </a:r>
            <a:r>
              <a:rPr lang="" altLang="en-US" sz="2500"/>
              <a:t>ı</a:t>
            </a:r>
            <a:r>
              <a:rPr lang="en-US" altLang="en-US" sz="2500"/>
              <a:t>.</a:t>
            </a:r>
            <a:endParaRPr lang="en-US" altLang="en-US" sz="2500"/>
          </a:p>
          <a:p>
            <a:endParaRPr lang="tr-TR" altLang="en-US" sz="2500"/>
          </a:p>
          <a:p>
            <a:pPr marL="0" indent="0">
              <a:buNone/>
            </a:pPr>
            <a:r>
              <a:rPr lang="tr-TR" altLang="en-US" sz="2500"/>
              <a:t>    </a:t>
            </a:r>
            <a:r>
              <a:rPr lang="en-US" altLang="en-US" sz="2500"/>
              <a:t>B A</a:t>
            </a:r>
            <a:r>
              <a:rPr lang="" altLang="en-US" sz="2500"/>
              <a:t>ğ</a:t>
            </a:r>
            <a:r>
              <a:rPr lang="en-US" altLang="en-US" sz="2500"/>
              <a:t>ac</a:t>
            </a:r>
            <a:r>
              <a:rPr lang="" altLang="en-US" sz="2500"/>
              <a:t>ı</a:t>
            </a:r>
            <a:r>
              <a:rPr lang="en-US" altLang="en-US" sz="2500"/>
              <a:t>: Bagaj kay</a:t>
            </a:r>
            <a:r>
              <a:rPr lang="" altLang="en-US" sz="2500"/>
              <a:t>ı</a:t>
            </a:r>
            <a:r>
              <a:rPr lang="en-US" altLang="en-US" sz="2500"/>
              <a:t>tlar</a:t>
            </a:r>
            <a:r>
              <a:rPr lang="" altLang="en-US" sz="2500"/>
              <a:t>ı</a:t>
            </a:r>
            <a:r>
              <a:rPr lang="en-US" altLang="en-US" sz="2500"/>
              <a:t>n</a:t>
            </a:r>
            <a:r>
              <a:rPr lang="" altLang="en-US" sz="2500"/>
              <a:t>ı</a:t>
            </a:r>
            <a:r>
              <a:rPr lang="en-US" altLang="en-US" sz="2500"/>
              <a:t>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 numaras</a:t>
            </a:r>
            <a:r>
              <a:rPr lang="" altLang="en-US" sz="2500"/>
              <a:t>ı</a:t>
            </a:r>
            <a:r>
              <a:rPr lang="en-US" altLang="en-US" sz="2500"/>
              <a:t>na göre s</a:t>
            </a:r>
            <a:r>
              <a:rPr lang="" altLang="en-US" sz="2500"/>
              <a:t>ı</a:t>
            </a:r>
            <a:r>
              <a:rPr lang="en-US" altLang="en-US" sz="2500"/>
              <a:t>ralar</a:t>
            </a:r>
            <a:r>
              <a:rPr lang="tr-TR" altLang="en-US" sz="2500"/>
              <a:t>. </a:t>
            </a:r>
            <a:r>
              <a:rPr lang="en-US" altLang="en-US" sz="2500"/>
              <a:t>Örne</a:t>
            </a:r>
            <a:r>
              <a:rPr lang="" altLang="en-US" sz="2500"/>
              <a:t>ğ</a:t>
            </a:r>
            <a:r>
              <a:rPr lang="en-US" altLang="en-US" sz="2500"/>
              <a:t>in, “TK2456”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undaki tüm bagajlar</a:t>
            </a:r>
            <a:r>
              <a:rPr lang="" altLang="en-US" sz="2500"/>
              <a:t>ı</a:t>
            </a:r>
            <a:r>
              <a:rPr lang="en-US" altLang="en-US" sz="2500"/>
              <a:t> bulmak i</a:t>
            </a:r>
            <a:r>
              <a:rPr lang="" altLang="en-US" sz="2500"/>
              <a:t>ç</a:t>
            </a:r>
            <a:r>
              <a:rPr lang="en-US" altLang="en-US" sz="2500"/>
              <a:t>in sistem</a:t>
            </a:r>
            <a:r>
              <a:rPr lang="tr-TR" altLang="en-US" sz="2500"/>
              <a:t> </a:t>
            </a:r>
            <a:r>
              <a:rPr lang="en-US" altLang="en-US" sz="2500"/>
              <a:t>do</a:t>
            </a:r>
            <a:r>
              <a:rPr lang="" altLang="en-US" sz="2500"/>
              <a:t>ğ</a:t>
            </a:r>
            <a:r>
              <a:rPr lang="en-US" altLang="en-US" sz="2500"/>
              <a:t>rudan ilgili dü</a:t>
            </a:r>
            <a:r>
              <a:rPr lang="" altLang="en-US" sz="2500"/>
              <a:t>ğ</a:t>
            </a:r>
            <a:r>
              <a:rPr lang="en-US" altLang="en-US" sz="2500"/>
              <a:t>üme gider.</a:t>
            </a:r>
            <a:endParaRPr lang="tr-TR" altLang="en-US" sz="2500"/>
          </a:p>
          <a:p>
            <a:pPr marL="0" indent="0">
              <a:buNone/>
            </a:pPr>
            <a:r>
              <a:rPr lang="tr-TR" altLang="en-US" sz="2500"/>
              <a:t>   </a:t>
            </a:r>
            <a:r>
              <a:rPr lang="en-US" altLang="en-US" sz="2500"/>
              <a:t>B+ A</a:t>
            </a:r>
            <a:r>
              <a:rPr lang="" altLang="en-US" sz="2500"/>
              <a:t>ğ</a:t>
            </a:r>
            <a:r>
              <a:rPr lang="en-US" altLang="en-US" sz="2500"/>
              <a:t>ac</a:t>
            </a:r>
            <a:r>
              <a:rPr lang="" altLang="en-US" sz="2500"/>
              <a:t>ı</a:t>
            </a:r>
            <a:r>
              <a:rPr lang="en-US" altLang="en-US" sz="2500"/>
              <a:t>: Yaprak dü</a:t>
            </a:r>
            <a:r>
              <a:rPr lang="" altLang="en-US" sz="2500"/>
              <a:t>ğ</a:t>
            </a:r>
            <a:r>
              <a:rPr lang="en-US" altLang="en-US" sz="2500"/>
              <a:t>ümler birbirine ba</a:t>
            </a:r>
            <a:r>
              <a:rPr lang="" altLang="en-US" sz="2500"/>
              <a:t>ğ</a:t>
            </a:r>
            <a:r>
              <a:rPr lang="en-US" altLang="en-US" sz="2500"/>
              <a:t>l</a:t>
            </a:r>
            <a:r>
              <a:rPr lang="" altLang="en-US" sz="2500"/>
              <a:t>ı</a:t>
            </a:r>
            <a:r>
              <a:rPr lang="en-US" altLang="en-US" sz="2500"/>
              <a:t> oldu</a:t>
            </a:r>
            <a:r>
              <a:rPr lang="" altLang="en-US" sz="2500"/>
              <a:t>ğ</a:t>
            </a:r>
            <a:r>
              <a:rPr lang="en-US" altLang="en-US" sz="2500"/>
              <a:t>u i</a:t>
            </a:r>
            <a:r>
              <a:rPr lang="" altLang="en-US" sz="2500"/>
              <a:t>ç</a:t>
            </a:r>
            <a:r>
              <a:rPr lang="en-US" altLang="en-US" sz="2500"/>
              <a:t>in “TK2450–TK2500” aras</a:t>
            </a:r>
            <a:r>
              <a:rPr lang="" altLang="en-US" sz="2500"/>
              <a:t>ı</a:t>
            </a:r>
            <a:r>
              <a:rPr lang="en-US" altLang="en-US" sz="2500"/>
              <a:t>ndaki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lar</a:t>
            </a:r>
            <a:r>
              <a:rPr lang="" altLang="en-US" sz="2500"/>
              <a:t>ı</a:t>
            </a:r>
            <a:r>
              <a:rPr lang="en-US" altLang="en-US" sz="2500"/>
              <a:t>n bagajlar</a:t>
            </a:r>
            <a:r>
              <a:rPr lang="" altLang="en-US" sz="2500"/>
              <a:t>ı</a:t>
            </a:r>
            <a:r>
              <a:rPr lang="en-US" altLang="en-US" sz="2500"/>
              <a:t>n</a:t>
            </a:r>
            <a:r>
              <a:rPr lang="" altLang="en-US" sz="2500"/>
              <a:t>ı</a:t>
            </a:r>
            <a:r>
              <a:rPr lang="en-US" altLang="en-US" sz="2500"/>
              <a:t> aral</a:t>
            </a:r>
            <a:r>
              <a:rPr lang="" altLang="en-US" sz="2500"/>
              <a:t>ı</a:t>
            </a:r>
            <a:r>
              <a:rPr lang="en-US" altLang="en-US" sz="2500"/>
              <a:t>k sorgusuyla h</a:t>
            </a:r>
            <a:r>
              <a:rPr lang="" altLang="en-US" sz="2500"/>
              <a:t>ı</a:t>
            </a:r>
            <a:r>
              <a:rPr lang="en-US" altLang="en-US" sz="2500"/>
              <a:t>zl</a:t>
            </a:r>
            <a:r>
              <a:rPr lang="" altLang="en-US" sz="2500"/>
              <a:t>ı</a:t>
            </a:r>
            <a:r>
              <a:rPr lang="en-US" altLang="en-US" sz="2500"/>
              <a:t>ca getirir.</a:t>
            </a:r>
            <a:endParaRPr lang="en-US" altLang="en-US" sz="2500"/>
          </a:p>
          <a:p>
            <a:pPr marL="0" indent="0">
              <a:buNone/>
            </a:pPr>
            <a:r>
              <a:rPr lang="en-US" altLang="en-US" sz="2500"/>
              <a:t> Bagaj kayboldu</a:t>
            </a:r>
            <a:r>
              <a:rPr lang="" altLang="en-US" sz="2500"/>
              <a:t>ğ</a:t>
            </a:r>
            <a:r>
              <a:rPr lang="en-US" altLang="en-US" sz="2500"/>
              <a:t>unda sistem saniyeler i</a:t>
            </a:r>
            <a:r>
              <a:rPr lang="" altLang="en-US" sz="2500"/>
              <a:t>ç</a:t>
            </a:r>
            <a:r>
              <a:rPr lang="en-US" altLang="en-US" sz="2500"/>
              <a:t>inde hangi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a ait oldu</a:t>
            </a:r>
            <a:r>
              <a:rPr lang="" altLang="en-US" sz="2500"/>
              <a:t>ğ</a:t>
            </a:r>
            <a:r>
              <a:rPr lang="en-US" altLang="en-US" sz="2500"/>
              <a:t>unu bulur.</a:t>
            </a:r>
            <a:endParaRPr lang="en-US" altLang="en-US" sz="2500"/>
          </a:p>
          <a:p>
            <a:pPr marL="0" indent="0">
              <a:buNone/>
            </a:pPr>
            <a:r>
              <a:rPr lang="tr-TR" altLang="en-US" sz="2500"/>
              <a:t> </a:t>
            </a:r>
            <a:r>
              <a:rPr lang="en-US" altLang="en-US" sz="2500"/>
              <a:t>Aral</a:t>
            </a:r>
            <a:r>
              <a:rPr lang="" altLang="en-US" sz="2500"/>
              <a:t>ı</a:t>
            </a:r>
            <a:r>
              <a:rPr lang="en-US" altLang="en-US" sz="2500"/>
              <a:t>k sorgular</a:t>
            </a:r>
            <a:r>
              <a:rPr lang="" altLang="en-US" sz="2500"/>
              <a:t>ı</a:t>
            </a:r>
            <a:r>
              <a:rPr lang="en-US" altLang="en-US" sz="2500"/>
              <a:t> (ör. “bugün saat 14:00–16:00 aras</a:t>
            </a:r>
            <a:r>
              <a:rPr lang="" altLang="en-US" sz="2500"/>
              <a:t>ı</a:t>
            </a:r>
            <a:r>
              <a:rPr lang="en-US" altLang="en-US" sz="2500"/>
              <a:t> gelen u</a:t>
            </a:r>
            <a:r>
              <a:rPr lang="" altLang="en-US" sz="2500"/>
              <a:t>ç</a:t>
            </a:r>
            <a:r>
              <a:rPr lang="en-US" altLang="en-US" sz="2500"/>
              <a:t>u</a:t>
            </a:r>
            <a:r>
              <a:rPr lang="" altLang="en-US" sz="2500"/>
              <a:t>ş</a:t>
            </a:r>
            <a:r>
              <a:rPr lang="en-US" altLang="en-US" sz="2500"/>
              <a:t>lar”) </a:t>
            </a:r>
            <a:r>
              <a:rPr lang="" altLang="en-US" sz="2500"/>
              <a:t>ç</a:t>
            </a:r>
            <a:r>
              <a:rPr lang="en-US" altLang="en-US" sz="2500"/>
              <a:t>ok h</a:t>
            </a:r>
            <a:r>
              <a:rPr lang="" altLang="en-US" sz="2500"/>
              <a:t>ı</a:t>
            </a:r>
            <a:r>
              <a:rPr lang="en-US" altLang="en-US" sz="2500"/>
              <a:t>zl</a:t>
            </a:r>
            <a:r>
              <a:rPr lang="" altLang="en-US" sz="2500"/>
              <a:t>ı</a:t>
            </a:r>
            <a:r>
              <a:rPr lang="en-US" altLang="en-US" sz="2500"/>
              <a:t> yap</a:t>
            </a:r>
            <a:r>
              <a:rPr lang="" altLang="en-US" sz="2500"/>
              <a:t>ı</a:t>
            </a:r>
            <a:r>
              <a:rPr lang="en-US" altLang="en-US" sz="2500"/>
              <a:t>l</a:t>
            </a:r>
            <a:r>
              <a:rPr lang="" altLang="en-US" sz="2500"/>
              <a:t>ı</a:t>
            </a:r>
            <a:r>
              <a:rPr lang="en-US" altLang="en-US" sz="2500"/>
              <a:t>r.</a:t>
            </a:r>
            <a:endParaRPr lang="en-US" altLang="en-US" sz="2500"/>
          </a:p>
          <a:p>
            <a:pPr marL="0" indent="0">
              <a:buNone/>
            </a:pPr>
            <a:r>
              <a:rPr lang="tr-TR" altLang="en-US" sz="2500"/>
              <a:t> </a:t>
            </a:r>
            <a:r>
              <a:rPr lang="en-US" altLang="en-US" sz="2500"/>
              <a:t>Disk eri</a:t>
            </a:r>
            <a:r>
              <a:rPr lang="" altLang="en-US" sz="2500"/>
              <a:t>ş</a:t>
            </a:r>
            <a:r>
              <a:rPr lang="en-US" altLang="en-US" sz="2500"/>
              <a:t>imi azald</a:t>
            </a:r>
            <a:r>
              <a:rPr lang="" altLang="en-US" sz="2500"/>
              <a:t>ığı</a:t>
            </a:r>
            <a:r>
              <a:rPr lang="en-US" altLang="en-US" sz="2500"/>
              <a:t> i</a:t>
            </a:r>
            <a:r>
              <a:rPr lang="" altLang="en-US" sz="2500"/>
              <a:t>ç</a:t>
            </a:r>
            <a:r>
              <a:rPr lang="en-US" altLang="en-US" sz="2500"/>
              <a:t>in sistem performans</a:t>
            </a:r>
            <a:r>
              <a:rPr lang="" altLang="en-US" sz="2500"/>
              <a:t>ı</a:t>
            </a:r>
            <a:r>
              <a:rPr lang="en-US" altLang="en-US" sz="2500"/>
              <a:t> yüksek kal</a:t>
            </a:r>
            <a:r>
              <a:rPr lang="" altLang="en-US" sz="2500"/>
              <a:t>ı</a:t>
            </a:r>
            <a:r>
              <a:rPr lang="en-US" altLang="en-US" sz="2500"/>
              <a:t>r.</a:t>
            </a:r>
            <a:endParaRPr lang="en-US" altLang="en-US"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altLang="en-US"/>
              <a:t>SORULARA YANIT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tr-TR" altLang="en-US"/>
              <a:t>  </a:t>
            </a:r>
            <a:r>
              <a:rPr lang="en-US" altLang="en-US"/>
              <a:t>Bu veri yap</a:t>
            </a:r>
            <a:r>
              <a:rPr lang="" altLang="en-US"/>
              <a:t>ı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neden önemlidir?</a:t>
            </a:r>
            <a:endParaRPr lang="en-US" altLang="en-US"/>
          </a:p>
          <a:p>
            <a:pPr marL="0" indent="0">
              <a:buNone/>
            </a:pPr>
            <a:r>
              <a:rPr lang="tr-TR" altLang="en-US"/>
              <a:t>        -</a:t>
            </a:r>
            <a:r>
              <a:rPr lang="" altLang="en-US"/>
              <a:t>Ç</a:t>
            </a:r>
            <a:r>
              <a:rPr lang="en-US" altLang="en-US"/>
              <a:t>ünkü büyük veri setlerinde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im, s</a:t>
            </a:r>
            <a:r>
              <a:rPr lang="" altLang="en-US"/>
              <a:t>ı</a:t>
            </a:r>
            <a:r>
              <a:rPr lang="en-US" altLang="en-US"/>
              <a:t>ralama ve güncelleme sa</a:t>
            </a:r>
            <a:r>
              <a:rPr lang="" altLang="en-US"/>
              <a:t>ğ</a:t>
            </a:r>
            <a:r>
              <a:rPr lang="en-US" altLang="en-US"/>
              <a:t>lar. Disk tabanl</a:t>
            </a:r>
            <a:r>
              <a:rPr lang="" altLang="en-US"/>
              <a:t>ı</a:t>
            </a:r>
            <a:r>
              <a:rPr lang="en-US" altLang="en-US"/>
              <a:t> sistemlerde performans</a:t>
            </a:r>
            <a:r>
              <a:rPr lang="" altLang="en-US"/>
              <a:t>ı</a:t>
            </a:r>
            <a:r>
              <a:rPr lang="en-US" altLang="en-US"/>
              <a:t> art</a:t>
            </a:r>
            <a:r>
              <a:rPr lang="" altLang="en-US"/>
              <a:t>ı</a:t>
            </a:r>
            <a:r>
              <a:rPr lang="en-US" altLang="en-US"/>
              <a:t>r</a:t>
            </a:r>
            <a:r>
              <a:rPr lang="" altLang="en-US"/>
              <a:t>ı</a:t>
            </a:r>
            <a:r>
              <a:rPr lang="en-US" altLang="en-US"/>
              <a:t>r.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tr-TR" altLang="en-US"/>
              <a:t>  </a:t>
            </a:r>
            <a:r>
              <a:rPr lang="en-US" altLang="en-US"/>
              <a:t>Büyük veri </a:t>
            </a:r>
            <a:r>
              <a:rPr lang="" altLang="en-US"/>
              <a:t>ç</a:t>
            </a:r>
            <a:r>
              <a:rPr lang="en-US" altLang="en-US"/>
              <a:t>a</a:t>
            </a:r>
            <a:r>
              <a:rPr lang="" altLang="en-US"/>
              <a:t>ğı</a:t>
            </a:r>
            <a:r>
              <a:rPr lang="en-US" altLang="en-US"/>
              <a:t>nda neden ihtiya</a:t>
            </a:r>
            <a:r>
              <a:rPr lang="" altLang="en-US"/>
              <a:t>ç</a:t>
            </a:r>
            <a:r>
              <a:rPr lang="en-US" altLang="en-US"/>
              <a:t> duyulmaktad</a:t>
            </a:r>
            <a:r>
              <a:rPr lang="" altLang="en-US"/>
              <a:t>ı</a:t>
            </a:r>
            <a:r>
              <a:rPr lang="en-US" altLang="en-US"/>
              <a:t>r?  </a:t>
            </a:r>
            <a:endParaRPr lang="en-US" altLang="en-US"/>
          </a:p>
          <a:p>
            <a:pPr marL="0" indent="0">
              <a:buNone/>
            </a:pPr>
            <a:r>
              <a:rPr lang="tr-TR" altLang="en-US"/>
              <a:t>       -</a:t>
            </a:r>
            <a:r>
              <a:rPr lang="en-US" altLang="en-US"/>
              <a:t>Veri miktar</a:t>
            </a:r>
            <a:r>
              <a:rPr lang="" altLang="en-US"/>
              <a:t>ı</a:t>
            </a:r>
            <a:r>
              <a:rPr lang="en-US" altLang="en-US"/>
              <a:t> artt</a:t>
            </a:r>
            <a:r>
              <a:rPr lang="" altLang="en-US"/>
              <a:t>ı</a:t>
            </a:r>
            <a:r>
              <a:rPr lang="en-US" altLang="en-US"/>
              <a:t>k</a:t>
            </a:r>
            <a:r>
              <a:rPr lang="" altLang="en-US"/>
              <a:t>ç</a:t>
            </a:r>
            <a:r>
              <a:rPr lang="en-US" altLang="en-US"/>
              <a:t>a lineer arama yöntemleri yava</a:t>
            </a:r>
            <a:r>
              <a:rPr lang="" altLang="en-US"/>
              <a:t>ş</a:t>
            </a:r>
            <a:r>
              <a:rPr lang="en-US" altLang="en-US"/>
              <a:t> kal</a:t>
            </a:r>
            <a:r>
              <a:rPr lang="" altLang="en-US"/>
              <a:t>ı</a:t>
            </a:r>
            <a:r>
              <a:rPr lang="en-US" altLang="en-US"/>
              <a:t>r. B ve B+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sayesinde milyarlarca kay</a:t>
            </a:r>
            <a:r>
              <a:rPr lang="" altLang="en-US"/>
              <a:t>ı</a:t>
            </a:r>
            <a:r>
              <a:rPr lang="en-US" altLang="en-US"/>
              <a:t>tta bile h</a:t>
            </a:r>
            <a:r>
              <a:rPr lang="" altLang="en-US"/>
              <a:t>ı</a:t>
            </a:r>
            <a:r>
              <a:rPr lang="en-US" altLang="en-US"/>
              <a:t>zl</a:t>
            </a:r>
            <a:r>
              <a:rPr lang="" altLang="en-US"/>
              <a:t>ı</a:t>
            </a:r>
            <a:r>
              <a:rPr lang="en-US" altLang="en-US"/>
              <a:t> eri</a:t>
            </a:r>
            <a:r>
              <a:rPr lang="" altLang="en-US"/>
              <a:t>ş</a:t>
            </a:r>
            <a:r>
              <a:rPr lang="en-US" altLang="en-US"/>
              <a:t>im mümkündür.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altLang="en-US"/>
              <a:t>SORULARA YANIT</a:t>
            </a:r>
            <a:endParaRPr lang="tr-T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Gelecekte kullan</a:t>
            </a:r>
            <a:r>
              <a:rPr lang="" altLang="en-US"/>
              <a:t>ı</a:t>
            </a:r>
            <a:r>
              <a:rPr lang="en-US" altLang="en-US"/>
              <a:t>lmaya devam edecek mi?  </a:t>
            </a:r>
            <a:endParaRPr lang="en-US" altLang="en-US"/>
          </a:p>
          <a:p>
            <a:pPr marL="0" indent="0">
              <a:buNone/>
            </a:pPr>
            <a:r>
              <a:rPr lang="tr-TR" altLang="en-US"/>
              <a:t>     -</a:t>
            </a:r>
            <a:r>
              <a:rPr lang="en-US" altLang="en-US"/>
              <a:t>Evet. Veri tabanlar</a:t>
            </a:r>
            <a:r>
              <a:rPr lang="" altLang="en-US"/>
              <a:t>ı</a:t>
            </a:r>
            <a:r>
              <a:rPr lang="en-US" altLang="en-US"/>
              <a:t> ve dosya sistemleri var olduk</a:t>
            </a:r>
            <a:r>
              <a:rPr lang="" altLang="en-US"/>
              <a:t>ç</a:t>
            </a:r>
            <a:r>
              <a:rPr lang="en-US" altLang="en-US"/>
              <a:t>a, B ve B+ a</a:t>
            </a:r>
            <a:r>
              <a:rPr lang="" altLang="en-US"/>
              <a:t>ğ</a:t>
            </a:r>
            <a:r>
              <a:rPr lang="en-US" altLang="en-US"/>
              <a:t>a</a:t>
            </a:r>
            <a:r>
              <a:rPr lang="" altLang="en-US"/>
              <a:t>ç</a:t>
            </a:r>
            <a:r>
              <a:rPr lang="en-US" altLang="en-US"/>
              <a:t>lar</a:t>
            </a:r>
            <a:r>
              <a:rPr lang="" altLang="en-US"/>
              <a:t>ı</a:t>
            </a:r>
            <a:r>
              <a:rPr lang="en-US" altLang="en-US"/>
              <a:t> temel indeksleme yap</a:t>
            </a:r>
            <a:r>
              <a:rPr lang="" altLang="en-US"/>
              <a:t>ı</a:t>
            </a:r>
            <a:r>
              <a:rPr lang="en-US" altLang="en-US"/>
              <a:t>s</a:t>
            </a:r>
            <a:r>
              <a:rPr lang="" altLang="en-US"/>
              <a:t>ı</a:t>
            </a:r>
            <a:r>
              <a:rPr lang="en-US" altLang="en-US"/>
              <a:t> olarak kullan</a:t>
            </a:r>
            <a:r>
              <a:rPr lang="" altLang="en-US"/>
              <a:t>ı</a:t>
            </a:r>
            <a:r>
              <a:rPr lang="en-US" altLang="en-US"/>
              <a:t>lmaya devam edecektir.</a:t>
            </a:r>
            <a:r>
              <a:rPr lang="tr-TR" altLang="en-US"/>
              <a:t>Tabiki</a:t>
            </a:r>
            <a:r>
              <a:rPr lang="en-US" altLang="en-US"/>
              <a:t> hibrit yap</a:t>
            </a:r>
            <a:r>
              <a:rPr lang="" altLang="en-US"/>
              <a:t>ı</a:t>
            </a:r>
            <a:r>
              <a:rPr lang="en-US" altLang="en-US"/>
              <a:t>lar (ör. LSM Trees) ile birlikte daha optimize </a:t>
            </a:r>
            <a:r>
              <a:rPr lang="" altLang="en-US"/>
              <a:t>ç</a:t>
            </a:r>
            <a:r>
              <a:rPr lang="en-US" altLang="en-US"/>
              <a:t>özümler de geli</a:t>
            </a:r>
            <a:r>
              <a:rPr lang="" altLang="en-US"/>
              <a:t>ş</a:t>
            </a:r>
            <a:r>
              <a:rPr lang="en-US" altLang="en-US"/>
              <a:t>tirilecektir.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tr-TR" altLang="en-US"/>
              <a:t>                    </a:t>
            </a:r>
            <a:endParaRPr lang="tr-TR" altLang="en-US"/>
          </a:p>
          <a:p>
            <a:pPr marL="0" indent="0">
              <a:buNone/>
            </a:pPr>
            <a:endParaRPr lang="tr-TR" altLang="en-US"/>
          </a:p>
          <a:p>
            <a:pPr marL="0" indent="0">
              <a:buNone/>
            </a:pPr>
            <a:endParaRPr lang="tr-TR" altLang="en-US"/>
          </a:p>
          <a:p>
            <a:pPr marL="0" indent="0">
              <a:buNone/>
            </a:pPr>
            <a:endParaRPr lang="tr-TR" altLang="en-US"/>
          </a:p>
          <a:p>
            <a:pPr marL="0" indent="0">
              <a:buNone/>
            </a:pPr>
            <a:r>
              <a:rPr lang="tr-TR" altLang="en-US"/>
              <a:t>        BENİ DİNLEDİĞİNİZ İÇİN TEŞEKKÜR EDERİM</a:t>
            </a:r>
            <a:endParaRPr lang="tr-TR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08905" y="3709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/>
              <a:t>Emin SAĞLAM </a:t>
            </a:r>
            <a:endParaRPr lang="tr-TR" altLang="en-US"/>
          </a:p>
          <a:p>
            <a:r>
              <a:rPr lang="tr-TR" altLang="en-US"/>
              <a:t> 02240224171</a:t>
            </a:r>
            <a:endParaRPr lang="tr-T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5003</Words>
  <Application>WPS Presentation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BatangChe</vt:lpstr>
      <vt:lpstr>Segoe Print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Emin Sağlam</cp:lastModifiedBy>
  <cp:revision>3</cp:revision>
  <dcterms:created xsi:type="dcterms:W3CDTF">2025-07-23T00:59:00Z</dcterms:created>
  <dcterms:modified xsi:type="dcterms:W3CDTF">2026-05-19T13:06:42Z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483B33496D78459A897CD4B8759F84A5_11</vt:lpwstr>
  </property>
  <property fmtid="{D5CDD505-2E9C-101B-9397-08002B2CF9AE}" pid="3" name="KSOProductBuildVer">
    <vt:lpwstr>1033-12.2.0.23202</vt:lpwstr>
  </property>
</Properties>
</file>